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9891" y="201581"/>
            <a:ext cx="82461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Introduction to Databases &amp; MySQL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264129" y="1825432"/>
            <a:ext cx="31357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. What is a Database?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99548" y="3036086"/>
            <a:ext cx="778816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an organized collection of data that is stored and accessed electronically.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allows us 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 of a database as a digital filing cabinet where information is neatly organized in a way that computers can easily access.</a:t>
            </a:r>
          </a:p>
        </p:txBody>
      </p:sp>
    </p:spTree>
    <p:extLst>
      <p:ext uri="{BB962C8B-B14F-4D97-AF65-F5344CB8AC3E}">
        <p14:creationId xmlns:p14="http://schemas.microsoft.com/office/powerpoint/2010/main" val="2281256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029" y="250068"/>
            <a:ext cx="921757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Why do we need Databases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</a:t>
            </a:r>
            <a:r>
              <a:rPr lang="en-US" b="1" dirty="0"/>
              <a:t>store large amounts of data</a:t>
            </a:r>
            <a:r>
              <a:rPr lang="en-US" dirty="0"/>
              <a:t> in a structured way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allow multiple users and applications to </a:t>
            </a:r>
            <a:r>
              <a:rPr lang="en-US" b="1" dirty="0"/>
              <a:t>access and modify data</a:t>
            </a:r>
            <a:r>
              <a:rPr lang="en-US" dirty="0"/>
              <a:t> simultaneously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ensure </a:t>
            </a:r>
            <a:r>
              <a:rPr lang="en-US" b="1" dirty="0"/>
              <a:t>data integrity and security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</a:t>
            </a:r>
            <a:r>
              <a:rPr lang="en-US" b="1" dirty="0"/>
              <a:t>search and analyze data quickly</a:t>
            </a:r>
            <a:r>
              <a:rPr lang="en-US" dirty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312423" y="3496585"/>
            <a:ext cx="29074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Types of Databases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8216" y="4295034"/>
            <a:ext cx="723112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Relational Databases (RDBMS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):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Store data in tables (rows and columns). Examples: MySQL, PostgreSQL, Oracle, SQL Server</a:t>
            </a:r>
            <a:r>
              <a:rPr lang="en-US" dirty="0" smtClean="0"/>
              <a:t>.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Data is organized with relationships between tables.</a:t>
            </a:r>
          </a:p>
        </p:txBody>
      </p:sp>
    </p:spTree>
    <p:extLst>
      <p:ext uri="{BB962C8B-B14F-4D97-AF65-F5344CB8AC3E}">
        <p14:creationId xmlns:p14="http://schemas.microsoft.com/office/powerpoint/2010/main" val="2101804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030" y="38178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NoSQL Databases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Store data in various formats like documents, key-value pairs, graphs, etc. Examples: MongoDB, Cassandra.</a:t>
            </a:r>
          </a:p>
        </p:txBody>
      </p:sp>
      <p:sp>
        <p:nvSpPr>
          <p:cNvPr id="3" name="Rectangle 2"/>
          <p:cNvSpPr/>
          <p:nvPr/>
        </p:nvSpPr>
        <p:spPr>
          <a:xfrm>
            <a:off x="683167" y="2297387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What is MySQL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?</a:t>
            </a:r>
          </a:p>
          <a:p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MySQL</a:t>
            </a:r>
            <a:r>
              <a:rPr lang="en-US" dirty="0"/>
              <a:t> is an open-source </a:t>
            </a:r>
            <a:r>
              <a:rPr lang="en-US" b="1" dirty="0"/>
              <a:t>Relational Database Management System (RDBMS</a:t>
            </a:r>
            <a:r>
              <a:rPr lang="en-US" b="1" dirty="0" smtClean="0"/>
              <a:t>)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uses </a:t>
            </a:r>
            <a:r>
              <a:rPr lang="en-US" b="1" dirty="0"/>
              <a:t>Structured Query Language (SQL)</a:t>
            </a:r>
            <a:r>
              <a:rPr lang="en-US" dirty="0"/>
              <a:t> to access and manage data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Originally developed by MySQL AB, now owned by Oracle Corporation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Popular for web applications, especially with PHP (e.g., WordPress), and part of the LAMP stack (Linux, Apache, MySQL, PHP).</a:t>
            </a:r>
          </a:p>
        </p:txBody>
      </p:sp>
    </p:spTree>
    <p:extLst>
      <p:ext uri="{BB962C8B-B14F-4D97-AF65-F5344CB8AC3E}">
        <p14:creationId xmlns:p14="http://schemas.microsoft.com/office/powerpoint/2010/main" val="413859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2448" y="265830"/>
            <a:ext cx="6096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Features of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MySQL</a:t>
            </a: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Open Source:</a:t>
            </a:r>
            <a:r>
              <a:rPr lang="en-US" dirty="0"/>
              <a:t> Free to use and modify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Cross-platform:</a:t>
            </a:r>
            <a:r>
              <a:rPr lang="en-US" dirty="0"/>
              <a:t> Runs on Windows, Linux, </a:t>
            </a:r>
            <a:r>
              <a:rPr lang="en-US" dirty="0" err="1"/>
              <a:t>macOS</a:t>
            </a:r>
            <a:r>
              <a:rPr lang="en-US" dirty="0"/>
              <a:t>, etc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 Performance:</a:t>
            </a:r>
            <a:r>
              <a:rPr lang="en-US" dirty="0"/>
              <a:t> Fast query execution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Scalable:</a:t>
            </a:r>
            <a:r>
              <a:rPr lang="en-US" dirty="0"/>
              <a:t> Can handle small to large datasets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Secure:</a:t>
            </a:r>
            <a:r>
              <a:rPr lang="en-US" dirty="0"/>
              <a:t> User authentication and access control.</a:t>
            </a:r>
          </a:p>
        </p:txBody>
      </p:sp>
      <p:sp>
        <p:nvSpPr>
          <p:cNvPr id="3" name="Rectangle 2"/>
          <p:cNvSpPr/>
          <p:nvPr/>
        </p:nvSpPr>
        <p:spPr>
          <a:xfrm>
            <a:off x="525506" y="404617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How Does MySQL Work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dirty="0"/>
              <a:t>You send a </a:t>
            </a:r>
            <a:r>
              <a:rPr lang="en-US" b="1" dirty="0"/>
              <a:t>SQL query</a:t>
            </a:r>
            <a:r>
              <a:rPr lang="en-US" dirty="0"/>
              <a:t> to MySQL server</a:t>
            </a:r>
            <a:r>
              <a:rPr lang="en-US" dirty="0" smtClean="0"/>
              <a:t>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MySQL processes the query, searches the data</a:t>
            </a:r>
            <a:r>
              <a:rPr lang="en-US" dirty="0" smtClean="0"/>
              <a:t>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Returns the results (like selected data) or performs the requested action (insert, update, delete).</a:t>
            </a:r>
          </a:p>
        </p:txBody>
      </p:sp>
    </p:spTree>
    <p:extLst>
      <p:ext uri="{BB962C8B-B14F-4D97-AF65-F5344CB8AC3E}">
        <p14:creationId xmlns:p14="http://schemas.microsoft.com/office/powerpoint/2010/main" val="221847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483" y="296174"/>
            <a:ext cx="3320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Why are Databases Important?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7854" y="950527"/>
            <a:ext cx="1139322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Databases play a crucial role in almost every application and system because they provide several important benefits:</a:t>
            </a:r>
          </a:p>
          <a:p>
            <a:r>
              <a:rPr lang="en-US" b="1" dirty="0"/>
              <a:t>1. Efficient Data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Databases allow large amounts of data to be stored in a way that is easy to organize.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prevent data duplication and make sure data is consistent.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0924" y="2750007"/>
            <a:ext cx="111251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Data Retrieval and Manipulation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 databases, you can quickly retrieve specific information using queries.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can also update, delete, or add 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9742" y="3920051"/>
            <a:ext cx="106522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3. Data Integrity and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Databases enforce rules to ensure the data entered is correct (e.g., age cannot be negative).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Constraints such as primary keys and foreign keys maintain relationships and prevent invalid data</a:t>
            </a:r>
          </a:p>
        </p:txBody>
      </p:sp>
    </p:spTree>
    <p:extLst>
      <p:ext uri="{BB962C8B-B14F-4D97-AF65-F5344CB8AC3E}">
        <p14:creationId xmlns:p14="http://schemas.microsoft.com/office/powerpoint/2010/main" val="1526099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609" y="117159"/>
            <a:ext cx="106995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4. Multi-user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Databases allow multiple users or applications to access and modify the data at the same time safely.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handle conflicts and maintain data consistency.</a:t>
            </a:r>
          </a:p>
        </p:txBody>
      </p:sp>
      <p:sp>
        <p:nvSpPr>
          <p:cNvPr id="3" name="Rectangle 2"/>
          <p:cNvSpPr/>
          <p:nvPr/>
        </p:nvSpPr>
        <p:spPr>
          <a:xfrm>
            <a:off x="210197" y="1744400"/>
            <a:ext cx="106049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5.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Databases provide access controls to protect sensitive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authorized users can view or modify certain parts of the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289027" y="3033790"/>
            <a:ext cx="109202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6. Backup and Recovery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Databases provide tools to back up data regularly.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case of hardware failure or errors, data can be restored to prevent loss.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41735" y="4440314"/>
            <a:ext cx="100531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7. Data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Databases help represent and enforce relationships between different data, such as customers and their orders.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makes data more meaningful and easier to analyze.</a:t>
            </a:r>
          </a:p>
        </p:txBody>
      </p:sp>
    </p:spTree>
    <p:extLst>
      <p:ext uri="{BB962C8B-B14F-4D97-AF65-F5344CB8AC3E}">
        <p14:creationId xmlns:p14="http://schemas.microsoft.com/office/powerpoint/2010/main" val="3991845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3619" y="290580"/>
            <a:ext cx="113932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8. Support for Transactions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Databases can bundle multiple operations into a single transaction that either completes fully or not at all, maintaining data consistency.</a:t>
            </a:r>
          </a:p>
        </p:txBody>
      </p:sp>
      <p:sp>
        <p:nvSpPr>
          <p:cNvPr id="3" name="Rectangle 2"/>
          <p:cNvSpPr/>
          <p:nvPr/>
        </p:nvSpPr>
        <p:spPr>
          <a:xfrm>
            <a:off x="2662857" y="1683541"/>
            <a:ext cx="46429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Real-life Example of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3622" y="2562011"/>
            <a:ext cx="1090448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Imagine a bank without a database: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accounts would be written on paper or in unorganized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Finding a customer's balance or transaction history would take a long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employees updating accounts simultaneously could cause errors or loss of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 would be weak, risking sensitive information leaks.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3619" y="4408782"/>
            <a:ext cx="112828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With databases: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bank can store millions of customer records safely.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Queries instantly retrieve balances or transactions.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users can update data without errors.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is backed up and secure.</a:t>
            </a:r>
          </a:p>
        </p:txBody>
      </p:sp>
    </p:spTree>
    <p:extLst>
      <p:ext uri="{BB962C8B-B14F-4D97-AF65-F5344CB8AC3E}">
        <p14:creationId xmlns:p14="http://schemas.microsoft.com/office/powerpoint/2010/main" val="3972095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3264" y="126146"/>
            <a:ext cx="96432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What is RDBMS (Relational Database Management System)?</a:t>
            </a:r>
          </a:p>
        </p:txBody>
      </p:sp>
      <p:sp>
        <p:nvSpPr>
          <p:cNvPr id="3" name="Rectangle 2"/>
          <p:cNvSpPr/>
          <p:nvPr/>
        </p:nvSpPr>
        <p:spPr>
          <a:xfrm>
            <a:off x="194431" y="1036140"/>
            <a:ext cx="1095178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Definition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RDBMS</a:t>
            </a:r>
            <a:r>
              <a:rPr lang="en-US" dirty="0"/>
              <a:t> stands for </a:t>
            </a:r>
            <a:r>
              <a:rPr lang="en-US" b="1" dirty="0"/>
              <a:t>Relational Database Management System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a software system that </a:t>
            </a:r>
            <a:r>
              <a:rPr lang="en-US" b="1" dirty="0"/>
              <a:t>manages relational databases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an RDBMS, data is stored in </a:t>
            </a:r>
            <a:r>
              <a:rPr lang="en-US" b="1" dirty="0"/>
              <a:t>tables</a:t>
            </a:r>
            <a:r>
              <a:rPr lang="en-US" dirty="0"/>
              <a:t> (also called relations), which consist of rows and </a:t>
            </a:r>
            <a:r>
              <a:rPr lang="en-US" dirty="0" smtClean="0"/>
              <a:t>columns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tables are related to each other through keys, allowing complex data to be organized and retrieved efficiently.</a:t>
            </a:r>
          </a:p>
        </p:txBody>
      </p:sp>
    </p:spTree>
    <p:extLst>
      <p:ext uri="{BB962C8B-B14F-4D97-AF65-F5344CB8AC3E}">
        <p14:creationId xmlns:p14="http://schemas.microsoft.com/office/powerpoint/2010/main" val="1226032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0508" y="185816"/>
            <a:ext cx="2628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Key Features of RDBMS: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5766" y="778392"/>
            <a:ext cx="1201332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 (Relations):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organized into tables with rows and columns. Each row is a record, and each column is an attribute or field.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Key: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table has a unique identifier called the primary key that uniquely identifies each record.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Foreign Key: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link tables together and maintain relationships between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Support: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RDBMS uses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 Query Language (SQL)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querying and managing the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Integrity: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accuracy and consistency of data through constraints like NOT NULL, UNIQUE, and CHECK.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ACID Properties: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Atomicity, Consistency, Isolation, and Durability — important for reliable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Multi-user Access: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users can access and manipulate the database concurrently without data corruption.</a:t>
            </a:r>
          </a:p>
        </p:txBody>
      </p:sp>
    </p:spTree>
    <p:extLst>
      <p:ext uri="{BB962C8B-B14F-4D97-AF65-F5344CB8AC3E}">
        <p14:creationId xmlns:p14="http://schemas.microsoft.com/office/powerpoint/2010/main" val="1781054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8668" y="218533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Examples of RDBMS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MySQL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Oracle </a:t>
            </a:r>
            <a:r>
              <a:rPr lang="en-US" dirty="0" smtClean="0"/>
              <a:t>Database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Microsoft SQL </a:t>
            </a:r>
            <a:r>
              <a:rPr lang="en-US" dirty="0" smtClean="0"/>
              <a:t>Server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PostgreSQL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SQLite</a:t>
            </a:r>
          </a:p>
        </p:txBody>
      </p:sp>
    </p:spTree>
    <p:extLst>
      <p:ext uri="{BB962C8B-B14F-4D97-AF65-F5344CB8AC3E}">
        <p14:creationId xmlns:p14="http://schemas.microsoft.com/office/powerpoint/2010/main" val="2596105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35816" y="1179049"/>
            <a:ext cx="2294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What is MySQL?</a:t>
            </a:r>
          </a:p>
        </p:txBody>
      </p:sp>
      <p:sp>
        <p:nvSpPr>
          <p:cNvPr id="3" name="Rectangle 2"/>
          <p:cNvSpPr/>
          <p:nvPr/>
        </p:nvSpPr>
        <p:spPr>
          <a:xfrm>
            <a:off x="257496" y="2341291"/>
            <a:ext cx="1098331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Definition</a:t>
            </a:r>
            <a:r>
              <a:rPr lang="en-US" b="1" dirty="0" smtClean="0"/>
              <a:t>:</a:t>
            </a:r>
          </a:p>
          <a:p>
            <a:endParaRPr lang="en-US" b="1" dirty="0"/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MySQL</a:t>
            </a:r>
            <a:r>
              <a:rPr lang="en-US" dirty="0"/>
              <a:t> is a popular open-source </a:t>
            </a:r>
            <a:r>
              <a:rPr lang="en-US" b="1" dirty="0"/>
              <a:t>Relational Database Management System (RDBMS</a:t>
            </a:r>
            <a:r>
              <a:rPr lang="en-US" b="1" dirty="0" smtClean="0"/>
              <a:t>)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uses SQL as the language to manage and manipulate data stored in databases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MySQL was originally developed by </a:t>
            </a:r>
            <a:r>
              <a:rPr lang="en-US" b="1" dirty="0"/>
              <a:t>MySQL AB</a:t>
            </a:r>
            <a:r>
              <a:rPr lang="en-US" dirty="0"/>
              <a:t>, later acquired by </a:t>
            </a:r>
            <a:r>
              <a:rPr lang="en-US" b="1" dirty="0"/>
              <a:t>Oracle Corporation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is widely used in web applications and supports multiple platforms such as Windows, Linux, </a:t>
            </a:r>
            <a:r>
              <a:rPr lang="en-US" dirty="0" err="1"/>
              <a:t>macOS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5450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7494" y="101562"/>
            <a:ext cx="1080989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Why Use MySQL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Open Source &amp; Free: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Anyone can use and modify it without cost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Cross-Platform: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Runs on many operating systems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 Performance: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Fast query processing even with large amounts of data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Scalability: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Can handle small to very large databases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Security: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Supports user authentication and permissions to protect data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Support for Transactions: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Ensures reliable data processing through ACID compliance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Wide Community and Support: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Large community of users and developers, lots of tutorials, and tools available.</a:t>
            </a:r>
          </a:p>
        </p:txBody>
      </p:sp>
    </p:spTree>
    <p:extLst>
      <p:ext uri="{BB962C8B-B14F-4D97-AF65-F5344CB8AC3E}">
        <p14:creationId xmlns:p14="http://schemas.microsoft.com/office/powerpoint/2010/main" val="2487365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558" y="127330"/>
            <a:ext cx="965901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How MySQL Works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?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create a </a:t>
            </a:r>
            <a:r>
              <a:rPr lang="en-US" b="1" dirty="0"/>
              <a:t>database</a:t>
            </a:r>
            <a:r>
              <a:rPr lang="en-US" dirty="0"/>
              <a:t> to organize your data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Inside the database, you create </a:t>
            </a:r>
            <a:r>
              <a:rPr lang="en-US" b="1" dirty="0"/>
              <a:t>tables</a:t>
            </a:r>
            <a:r>
              <a:rPr lang="en-US" dirty="0"/>
              <a:t> to store different types of data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use </a:t>
            </a:r>
            <a:r>
              <a:rPr lang="en-US" b="1" dirty="0"/>
              <a:t>SQL queries</a:t>
            </a:r>
            <a:r>
              <a:rPr lang="en-US" dirty="0"/>
              <a:t> to add, update, delete, and retrieve data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MySQL processes your queries and returns the results.</a:t>
            </a:r>
          </a:p>
        </p:txBody>
      </p:sp>
    </p:spTree>
    <p:extLst>
      <p:ext uri="{BB962C8B-B14F-4D97-AF65-F5344CB8AC3E}">
        <p14:creationId xmlns:p14="http://schemas.microsoft.com/office/powerpoint/2010/main" val="613959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6558" y="264645"/>
            <a:ext cx="33676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Introduction to SQL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7855" y="985450"/>
            <a:ext cx="108414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SQL</a:t>
            </a:r>
            <a:r>
              <a:rPr lang="en-US" b="1" dirty="0" smtClean="0"/>
              <a:t>?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SQL</a:t>
            </a:r>
            <a:r>
              <a:rPr lang="en-US" dirty="0"/>
              <a:t> stands for </a:t>
            </a:r>
            <a:r>
              <a:rPr lang="en-US" b="1" dirty="0"/>
              <a:t>Structured Query Language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the standard language used to communicate with </a:t>
            </a:r>
            <a:r>
              <a:rPr lang="en-US" b="1" dirty="0"/>
              <a:t>Relational Database Management Systems </a:t>
            </a:r>
            <a:r>
              <a:rPr lang="en-US" b="1" dirty="0" smtClean="0"/>
              <a:t>(</a:t>
            </a:r>
            <a:r>
              <a:rPr lang="en-US" b="1" dirty="0"/>
              <a:t>RDBMS)</a:t>
            </a:r>
            <a:r>
              <a:rPr lang="en-US" dirty="0"/>
              <a:t> like MySQL, Oracle, SQL Server, and PostgreSQL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SQL allows you to </a:t>
            </a:r>
            <a:r>
              <a:rPr lang="en-US" b="1" dirty="0"/>
              <a:t>create, read, update, and delete data</a:t>
            </a:r>
            <a:r>
              <a:rPr lang="en-US" dirty="0"/>
              <a:t> stored in databases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also helps to define database structures (tables, relationships) and control access.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042" y="4039397"/>
            <a:ext cx="96905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Types of SQL Commands</a:t>
            </a:r>
          </a:p>
          <a:p>
            <a:r>
              <a:rPr lang="en-US" dirty="0"/>
              <a:t>SQL commands are divided into several categories based on their purpose:</a:t>
            </a:r>
          </a:p>
        </p:txBody>
      </p:sp>
    </p:spTree>
    <p:extLst>
      <p:ext uri="{BB962C8B-B14F-4D97-AF65-F5344CB8AC3E}">
        <p14:creationId xmlns:p14="http://schemas.microsoft.com/office/powerpoint/2010/main" val="3778650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2901" y="38331"/>
            <a:ext cx="992702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Data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Definition Language (DDL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pPr marL="342900" indent="-342900">
              <a:buAutoNum type="arabicPeriod"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to </a:t>
            </a:r>
            <a:r>
              <a:rPr lang="en-US" b="1" dirty="0"/>
              <a:t>define or modify the structure</a:t>
            </a:r>
            <a:r>
              <a:rPr lang="en-US" dirty="0"/>
              <a:t> of database objects such as tables, indexes, and schemas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DDL commands: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98" y="2114714"/>
            <a:ext cx="10766868" cy="44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74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6344" y="122754"/>
            <a:ext cx="1237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Examples:</a:t>
            </a:r>
          </a:p>
        </p:txBody>
      </p:sp>
      <p:sp>
        <p:nvSpPr>
          <p:cNvPr id="3" name="Rectangle 2"/>
          <p:cNvSpPr/>
          <p:nvPr/>
        </p:nvSpPr>
        <p:spPr>
          <a:xfrm>
            <a:off x="52540" y="961889"/>
            <a:ext cx="1058918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-- Create a table named students</a:t>
            </a:r>
          </a:p>
          <a:p>
            <a:r>
              <a:rPr lang="en-US" dirty="0"/>
              <a:t>CREATE TABLE students (</a:t>
            </a:r>
          </a:p>
          <a:p>
            <a:r>
              <a:rPr lang="en-US" dirty="0"/>
              <a:t>    id INT PRIMARY KEY,</a:t>
            </a:r>
          </a:p>
          <a:p>
            <a:r>
              <a:rPr lang="en-US" dirty="0"/>
              <a:t>    name VARCHAR(50),</a:t>
            </a:r>
          </a:p>
          <a:p>
            <a:r>
              <a:rPr lang="en-US" dirty="0"/>
              <a:t>    age INT</a:t>
            </a:r>
          </a:p>
          <a:p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-- Add a new column 'grade' to students table</a:t>
            </a:r>
          </a:p>
          <a:p>
            <a:r>
              <a:rPr lang="en-US" dirty="0"/>
              <a:t>ALTER TABLE students ADD COLUMN grade VARCHAR(5);</a:t>
            </a:r>
          </a:p>
          <a:p>
            <a:endParaRPr lang="en-US" dirty="0"/>
          </a:p>
          <a:p>
            <a:r>
              <a:rPr lang="en-US" dirty="0"/>
              <a:t>-- Delete the students table</a:t>
            </a:r>
          </a:p>
          <a:p>
            <a:r>
              <a:rPr lang="en-US" dirty="0"/>
              <a:t>DROP TABLE students;</a:t>
            </a:r>
          </a:p>
          <a:p>
            <a:endParaRPr lang="en-US" dirty="0"/>
          </a:p>
          <a:p>
            <a:r>
              <a:rPr lang="en-US" dirty="0"/>
              <a:t>-- Remove all rows from students (table structure remains)</a:t>
            </a:r>
          </a:p>
          <a:p>
            <a:r>
              <a:rPr lang="en-US" dirty="0"/>
              <a:t>TRUNCATE TABLE students;</a:t>
            </a:r>
          </a:p>
        </p:txBody>
      </p:sp>
    </p:spTree>
    <p:extLst>
      <p:ext uri="{BB962C8B-B14F-4D97-AF65-F5344CB8AC3E}">
        <p14:creationId xmlns:p14="http://schemas.microsoft.com/office/powerpoint/2010/main" val="3338646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4369" y="170046"/>
            <a:ext cx="40350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2. Data Manipulation Language (DML)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04953" y="867132"/>
            <a:ext cx="54391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manipulate data stored inside tables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DML commands: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47" y="1931765"/>
            <a:ext cx="11470731" cy="429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01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0936" y="185816"/>
            <a:ext cx="1237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Examples: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793" y="1263639"/>
            <a:ext cx="953288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-- Retrieve all records from students</a:t>
            </a:r>
          </a:p>
          <a:p>
            <a:r>
              <a:rPr lang="en-US" dirty="0"/>
              <a:t>SELECT * FROM students;</a:t>
            </a:r>
          </a:p>
          <a:p>
            <a:endParaRPr lang="en-US" dirty="0"/>
          </a:p>
          <a:p>
            <a:r>
              <a:rPr lang="en-US" dirty="0"/>
              <a:t>-- Insert a new student record</a:t>
            </a:r>
          </a:p>
          <a:p>
            <a:r>
              <a:rPr lang="en-US" dirty="0"/>
              <a:t>INSERT INTO students (id, name, age, grade) VALUES (1, 'Alice', 14, '9');</a:t>
            </a:r>
          </a:p>
          <a:p>
            <a:endParaRPr lang="en-US" dirty="0"/>
          </a:p>
          <a:p>
            <a:r>
              <a:rPr lang="en-US" dirty="0"/>
              <a:t>-- Update the grade of a student</a:t>
            </a:r>
          </a:p>
          <a:p>
            <a:r>
              <a:rPr lang="en-US" dirty="0"/>
              <a:t>UPDATE students SET grade = '10' WHERE id = 1;</a:t>
            </a:r>
          </a:p>
          <a:p>
            <a:endParaRPr lang="en-US" dirty="0"/>
          </a:p>
          <a:p>
            <a:r>
              <a:rPr lang="en-US" dirty="0"/>
              <a:t>-- Delete a student record</a:t>
            </a:r>
          </a:p>
          <a:p>
            <a:r>
              <a:rPr lang="en-US" dirty="0"/>
              <a:t>DELETE FROM students WHERE id = 1;</a:t>
            </a:r>
          </a:p>
        </p:txBody>
      </p:sp>
    </p:spTree>
    <p:extLst>
      <p:ext uri="{BB962C8B-B14F-4D97-AF65-F5344CB8AC3E}">
        <p14:creationId xmlns:p14="http://schemas.microsoft.com/office/powerpoint/2010/main" val="3864265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186" y="138519"/>
            <a:ext cx="3440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3. Data Control Language (DCL)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701599"/>
            <a:ext cx="81034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access and permissions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the database objects.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DCL commands: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32" y="1790694"/>
            <a:ext cx="10188144" cy="344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017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2112" y="28158"/>
            <a:ext cx="1144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Example:</a:t>
            </a:r>
          </a:p>
        </p:txBody>
      </p:sp>
      <p:sp>
        <p:nvSpPr>
          <p:cNvPr id="3" name="Rectangle 2"/>
          <p:cNvSpPr/>
          <p:nvPr/>
        </p:nvSpPr>
        <p:spPr>
          <a:xfrm>
            <a:off x="178670" y="439246"/>
            <a:ext cx="1098331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-- Give SELECT permission on students table to user '</a:t>
            </a:r>
            <a:r>
              <a:rPr lang="en-US" dirty="0" err="1"/>
              <a:t>student_user</a:t>
            </a:r>
            <a:r>
              <a:rPr lang="en-US" dirty="0"/>
              <a:t>'</a:t>
            </a:r>
          </a:p>
          <a:p>
            <a:r>
              <a:rPr lang="en-US" dirty="0"/>
              <a:t>GRANT SELECT ON students TO '</a:t>
            </a:r>
            <a:r>
              <a:rPr lang="en-US" dirty="0" err="1"/>
              <a:t>student_user</a:t>
            </a:r>
            <a:r>
              <a:rPr lang="en-US" dirty="0"/>
              <a:t>';</a:t>
            </a:r>
          </a:p>
          <a:p>
            <a:endParaRPr lang="en-US" dirty="0"/>
          </a:p>
          <a:p>
            <a:r>
              <a:rPr lang="en-US" dirty="0"/>
              <a:t>-- Remove permission</a:t>
            </a:r>
          </a:p>
          <a:p>
            <a:r>
              <a:rPr lang="en-US" dirty="0"/>
              <a:t>REVOKE SELECT ON students FROM '</a:t>
            </a:r>
            <a:r>
              <a:rPr lang="en-US" dirty="0" err="1"/>
              <a:t>student_user</a:t>
            </a:r>
            <a:r>
              <a:rPr lang="en-US" dirty="0"/>
              <a:t>';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851" y="2109209"/>
            <a:ext cx="4136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4. Transaction Control Language (TCL)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2489289"/>
            <a:ext cx="77093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transactions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Transactions ensure a set of operations execute completely or not at 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0059" y="3228569"/>
            <a:ext cx="27719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Common TCL commands: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79" y="3882595"/>
            <a:ext cx="10341513" cy="376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867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6347" y="264645"/>
            <a:ext cx="1144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Example:</a:t>
            </a:r>
          </a:p>
        </p:txBody>
      </p:sp>
      <p:sp>
        <p:nvSpPr>
          <p:cNvPr id="3" name="Rectangle 2"/>
          <p:cNvSpPr/>
          <p:nvPr/>
        </p:nvSpPr>
        <p:spPr>
          <a:xfrm>
            <a:off x="131371" y="1080046"/>
            <a:ext cx="877614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BEGIN;</a:t>
            </a:r>
          </a:p>
          <a:p>
            <a:endParaRPr lang="en-US" dirty="0"/>
          </a:p>
          <a:p>
            <a:r>
              <a:rPr lang="en-US" dirty="0"/>
              <a:t>UPDATE students SET grade = '11' WHERE id = 2;</a:t>
            </a:r>
          </a:p>
          <a:p>
            <a:endParaRPr lang="en-US" dirty="0"/>
          </a:p>
          <a:p>
            <a:r>
              <a:rPr lang="en-US" dirty="0"/>
              <a:t>-- If everything is good, save the change</a:t>
            </a:r>
          </a:p>
          <a:p>
            <a:r>
              <a:rPr lang="en-US" dirty="0"/>
              <a:t>COMMIT;</a:t>
            </a:r>
          </a:p>
          <a:p>
            <a:endParaRPr lang="en-US" dirty="0"/>
          </a:p>
          <a:p>
            <a:r>
              <a:rPr lang="en-US" dirty="0"/>
              <a:t>-- If something goes wrong, undo the change</a:t>
            </a:r>
          </a:p>
          <a:p>
            <a:r>
              <a:rPr lang="en-US" dirty="0"/>
              <a:t>ROLLBACK;</a:t>
            </a:r>
          </a:p>
        </p:txBody>
      </p:sp>
    </p:spTree>
    <p:extLst>
      <p:ext uri="{BB962C8B-B14F-4D97-AF65-F5344CB8AC3E}">
        <p14:creationId xmlns:p14="http://schemas.microsoft.com/office/powerpoint/2010/main" val="574234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9849" y="327706"/>
            <a:ext cx="38075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>
                <a:solidFill>
                  <a:schemeClr val="accent1">
                    <a:lumMod val="75000"/>
                  </a:schemeClr>
                </a:solidFill>
              </a:rPr>
              <a:t>Summary Table of SQL Commands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59" y="941166"/>
            <a:ext cx="11918731" cy="568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93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4610" y="170054"/>
            <a:ext cx="2986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Why Learn SQL Commands?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41892" y="1051829"/>
            <a:ext cx="703142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commands form the core of interacting with databases.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allow you to create and maintain database 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 efficiently add, modify, and retrieve data.</a:t>
            </a:r>
          </a:p>
        </p:txBody>
      </p:sp>
    </p:spTree>
    <p:extLst>
      <p:ext uri="{BB962C8B-B14F-4D97-AF65-F5344CB8AC3E}">
        <p14:creationId xmlns:p14="http://schemas.microsoft.com/office/powerpoint/2010/main" val="180626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209" y="75457"/>
            <a:ext cx="3320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Creating Databases and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15609" y="68472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1. What is a Database?</a:t>
            </a:r>
          </a:p>
          <a:p>
            <a:r>
              <a:rPr lang="en-US" dirty="0"/>
              <a:t>A </a:t>
            </a:r>
            <a:r>
              <a:rPr lang="en-US" b="1" dirty="0"/>
              <a:t>database</a:t>
            </a:r>
            <a:r>
              <a:rPr lang="en-US" dirty="0"/>
              <a:t> is a structured collection of data stored electronically. In MySQL, databases hold tables, and each table stores rows of related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690" y="2077679"/>
            <a:ext cx="2541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2. Creating a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2713" y="2519115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Syntax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3740" y="3039382"/>
            <a:ext cx="3801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CREATE DATABASE </a:t>
            </a:r>
            <a:r>
              <a:rPr lang="en-US" dirty="0" err="1"/>
              <a:t>database_name</a:t>
            </a:r>
            <a:r>
              <a:rPr lang="en-US" dirty="0"/>
              <a:t>;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002" y="3701539"/>
            <a:ext cx="1059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147" y="4111443"/>
            <a:ext cx="2826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CREATE DATABASE school;</a:t>
            </a:r>
          </a:p>
        </p:txBody>
      </p:sp>
      <p:sp>
        <p:nvSpPr>
          <p:cNvPr id="9" name="Rectangle 8"/>
          <p:cNvSpPr/>
          <p:nvPr/>
        </p:nvSpPr>
        <p:spPr>
          <a:xfrm>
            <a:off x="215802" y="4678997"/>
            <a:ext cx="28055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Check Created Databases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038" y="5151967"/>
            <a:ext cx="2066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SHOW DATABASES;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8416" y="5719527"/>
            <a:ext cx="2637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Use a Specific 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087" y="6271325"/>
            <a:ext cx="1369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USE school;</a:t>
            </a: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78824" y="6964589"/>
            <a:ext cx="88917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command tells MySQL to use the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school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database for the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operatios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978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472" y="91221"/>
            <a:ext cx="2197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3. What is a Table?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26281" y="583345"/>
            <a:ext cx="11235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table</a:t>
            </a:r>
            <a:r>
              <a:rPr lang="en-US" dirty="0"/>
              <a:t> is a collection of related data entries organized in </a:t>
            </a:r>
            <a:r>
              <a:rPr lang="en-US" b="1" dirty="0"/>
              <a:t>columns (fields)</a:t>
            </a:r>
            <a:r>
              <a:rPr lang="en-US" dirty="0"/>
              <a:t> and </a:t>
            </a:r>
            <a:r>
              <a:rPr lang="en-US" b="1" dirty="0"/>
              <a:t>rows (records)</a:t>
            </a:r>
            <a:r>
              <a:rPr lang="en-US" dirty="0"/>
              <a:t>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7296" y="1115578"/>
            <a:ext cx="60854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example, a </a:t>
            </a: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students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table might contain: </a:t>
            </a:r>
            <a:endParaRPr kumimoji="0" lang="en-US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73" y="1718601"/>
            <a:ext cx="11839748" cy="409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045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48" y="106990"/>
            <a:ext cx="3261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4. Creating a Table in MySQL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7784" y="643015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Syntax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906" y="106648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CREATE TABLE </a:t>
            </a:r>
            <a:r>
              <a:rPr lang="en-US" dirty="0" err="1"/>
              <a:t>table_name</a:t>
            </a:r>
            <a:r>
              <a:rPr lang="en-US" dirty="0"/>
              <a:t> (</a:t>
            </a:r>
          </a:p>
          <a:p>
            <a:r>
              <a:rPr lang="en-US" dirty="0"/>
              <a:t>  column1 datatype constraints,</a:t>
            </a:r>
          </a:p>
          <a:p>
            <a:r>
              <a:rPr lang="en-US" dirty="0"/>
              <a:t>  column2 datatype constraints,</a:t>
            </a:r>
          </a:p>
          <a:p>
            <a:r>
              <a:rPr lang="en-US" dirty="0"/>
              <a:t>  ...</a:t>
            </a:r>
          </a:p>
          <a:p>
            <a:r>
              <a:rPr lang="en-US" dirty="0"/>
              <a:t>);</a:t>
            </a:r>
          </a:p>
        </p:txBody>
      </p:sp>
      <p:sp>
        <p:nvSpPr>
          <p:cNvPr id="5" name="Rectangle 4"/>
          <p:cNvSpPr/>
          <p:nvPr/>
        </p:nvSpPr>
        <p:spPr>
          <a:xfrm>
            <a:off x="204691" y="2582181"/>
            <a:ext cx="2260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Common Data Types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88" y="3105318"/>
            <a:ext cx="9391819" cy="359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776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52251" y="186957"/>
            <a:ext cx="55179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5. Example: Create 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students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</a:rPr>
              <a:t> Table </a:t>
            </a:r>
            <a:endParaRPr kumimoji="0" lang="en-US" altLang="en-US" sz="2400" b="0" i="0" u="none" strike="noStrike" cap="none" normalizeH="0" baseline="0" smtClean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4434" y="670141"/>
            <a:ext cx="757796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USE school</a:t>
            </a:r>
            <a:r>
              <a:rPr lang="en-US" dirty="0" smtClean="0"/>
              <a:t>;</a:t>
            </a:r>
          </a:p>
          <a:p>
            <a:endParaRPr lang="en-US" dirty="0"/>
          </a:p>
          <a:p>
            <a:r>
              <a:rPr lang="en-US" dirty="0"/>
              <a:t>CREATE TABLE students (  </a:t>
            </a:r>
            <a:endParaRPr lang="en-US" dirty="0" smtClean="0"/>
          </a:p>
          <a:p>
            <a:r>
              <a:rPr lang="en-US" dirty="0" smtClean="0"/>
              <a:t>id </a:t>
            </a:r>
            <a:r>
              <a:rPr lang="en-US" dirty="0"/>
              <a:t>INT PRIMARY KEY AUTO_INCREMENT,  </a:t>
            </a:r>
            <a:endParaRPr lang="en-US" dirty="0" smtClean="0"/>
          </a:p>
          <a:p>
            <a:r>
              <a:rPr lang="en-US" dirty="0" smtClean="0"/>
              <a:t>name </a:t>
            </a:r>
            <a:r>
              <a:rPr lang="en-US" dirty="0"/>
              <a:t>VARCHAR(50) NOT NULL,  </a:t>
            </a:r>
            <a:endParaRPr lang="en-US" dirty="0" smtClean="0"/>
          </a:p>
          <a:p>
            <a:r>
              <a:rPr lang="en-US" dirty="0" smtClean="0"/>
              <a:t>age </a:t>
            </a:r>
            <a:r>
              <a:rPr lang="en-US" dirty="0"/>
              <a:t>INT,  grade VARCHAR(5),  </a:t>
            </a:r>
            <a:endParaRPr lang="en-US" dirty="0" smtClean="0"/>
          </a:p>
          <a:p>
            <a:r>
              <a:rPr lang="en-US" dirty="0" err="1" smtClean="0"/>
              <a:t>admission_date</a:t>
            </a:r>
            <a:r>
              <a:rPr lang="en-US" dirty="0" smtClean="0"/>
              <a:t> </a:t>
            </a:r>
            <a:r>
              <a:rPr lang="en-US" dirty="0"/>
              <a:t>DATETIME </a:t>
            </a:r>
            <a:r>
              <a:rPr lang="en-US" dirty="0" smtClean="0"/>
              <a:t>DEFAULT </a:t>
            </a:r>
            <a:r>
              <a:rPr lang="en-US" dirty="0"/>
              <a:t>CURRENT_TIMESTAMP);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52251" y="3761323"/>
            <a:ext cx="969579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Auto-incremented unique identifier for each student.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Name of the student, cannot be NULL.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age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Student’s age.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grade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Optional grade.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admission_date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Defaults to today’s date if not specified.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5964" y="2951570"/>
            <a:ext cx="102265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INSERT INTO students (name, age, grade, </a:t>
            </a:r>
            <a:r>
              <a:rPr lang="en-US" dirty="0" err="1"/>
              <a:t>admission_date</a:t>
            </a:r>
            <a:r>
              <a:rPr lang="en-US" dirty="0"/>
              <a:t>)</a:t>
            </a:r>
          </a:p>
          <a:p>
            <a:r>
              <a:rPr lang="en-US" dirty="0"/>
              <a:t>VALUES ('John Doe', 18, 'A1', CURDATE());</a:t>
            </a:r>
          </a:p>
        </p:txBody>
      </p:sp>
    </p:spTree>
    <p:extLst>
      <p:ext uri="{BB962C8B-B14F-4D97-AF65-F5344CB8AC3E}">
        <p14:creationId xmlns:p14="http://schemas.microsoft.com/office/powerpoint/2010/main" val="3018322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9396" y="43933"/>
            <a:ext cx="2555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6. View Created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705" y="579960"/>
            <a:ext cx="1677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SHOW TABLES;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995" y="1242105"/>
            <a:ext cx="36373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7. View Table Structure (Schema)</a:t>
            </a:r>
          </a:p>
        </p:txBody>
      </p:sp>
      <p:sp>
        <p:nvSpPr>
          <p:cNvPr id="5" name="Rectangle 4"/>
          <p:cNvSpPr/>
          <p:nvPr/>
        </p:nvSpPr>
        <p:spPr>
          <a:xfrm>
            <a:off x="260371" y="1762367"/>
            <a:ext cx="2180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DESCRIBE students;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2816" y="2188041"/>
            <a:ext cx="397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502" y="2582175"/>
            <a:ext cx="17283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DESC students;</a:t>
            </a:r>
          </a:p>
        </p:txBody>
      </p:sp>
      <p:sp>
        <p:nvSpPr>
          <p:cNvPr id="8" name="Rectangle 7"/>
          <p:cNvSpPr/>
          <p:nvPr/>
        </p:nvSpPr>
        <p:spPr>
          <a:xfrm>
            <a:off x="147144" y="3121603"/>
            <a:ext cx="10163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 shows the table's columns, their types, </a:t>
            </a:r>
            <a:r>
              <a:rPr lang="en-US" dirty="0" err="1"/>
              <a:t>nullability</a:t>
            </a:r>
            <a:r>
              <a:rPr lang="en-US" dirty="0"/>
              <a:t>, keys, and default values.</a:t>
            </a:r>
          </a:p>
        </p:txBody>
      </p:sp>
    </p:spTree>
    <p:extLst>
      <p:ext uri="{BB962C8B-B14F-4D97-AF65-F5344CB8AC3E}">
        <p14:creationId xmlns:p14="http://schemas.microsoft.com/office/powerpoint/2010/main" val="28692725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7854" y="173444"/>
            <a:ext cx="84608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8. Creating Multiple Tables with Relationships (Foreign Key)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25672" y="785291"/>
            <a:ext cx="67161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students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Table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(created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before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3619" y="130635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CREATE TABLE students (  </a:t>
            </a:r>
          </a:p>
          <a:p>
            <a:r>
              <a:rPr lang="en-US" dirty="0"/>
              <a:t>id INT PRIMARY KEY AUTO_INCREMENT,  </a:t>
            </a:r>
          </a:p>
          <a:p>
            <a:r>
              <a:rPr lang="en-US" dirty="0"/>
              <a:t>name VARCHAR(50) NOT NULL,  </a:t>
            </a:r>
          </a:p>
          <a:p>
            <a:r>
              <a:rPr lang="en-US" dirty="0"/>
              <a:t>age INT,  grade VARCHAR(5),  </a:t>
            </a:r>
          </a:p>
          <a:p>
            <a:r>
              <a:rPr lang="en-US" dirty="0" err="1"/>
              <a:t>admission_date</a:t>
            </a:r>
            <a:r>
              <a:rPr lang="en-US" dirty="0"/>
              <a:t> DATETIME DEFAULT CURRENT_TIMESTAMP);</a:t>
            </a:r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62607" y="3542815"/>
            <a:ext cx="737826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Isme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student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unique primary key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age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grade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admission_date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uske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details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76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2232"/>
            <a:ext cx="53760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courses</a:t>
            </a: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</a:rPr>
              <a:t> Table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(New): </a:t>
            </a:r>
          </a:p>
        </p:txBody>
      </p:sp>
      <p:sp>
        <p:nvSpPr>
          <p:cNvPr id="3" name="Rectangle 2"/>
          <p:cNvSpPr/>
          <p:nvPr/>
        </p:nvSpPr>
        <p:spPr>
          <a:xfrm>
            <a:off x="399386" y="66895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CREATE TABLE courses (</a:t>
            </a:r>
          </a:p>
          <a:p>
            <a:r>
              <a:rPr lang="en-US" dirty="0"/>
              <a:t>  </a:t>
            </a:r>
            <a:r>
              <a:rPr lang="en-US" dirty="0" err="1"/>
              <a:t>course_id</a:t>
            </a:r>
            <a:r>
              <a:rPr lang="en-US" dirty="0"/>
              <a:t> INT PRIMARY KEY AUTO_INCREMENT,</a:t>
            </a:r>
          </a:p>
          <a:p>
            <a:r>
              <a:rPr lang="en-US" dirty="0"/>
              <a:t>  </a:t>
            </a:r>
            <a:r>
              <a:rPr lang="en-US" dirty="0" err="1"/>
              <a:t>course_name</a:t>
            </a:r>
            <a:r>
              <a:rPr lang="en-US" dirty="0"/>
              <a:t> VARCHAR(100) NOT NULL</a:t>
            </a:r>
          </a:p>
          <a:p>
            <a:r>
              <a:rPr lang="en-US" dirty="0"/>
              <a:t>);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6124" y="1758288"/>
            <a:ext cx="729943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course_id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unique ID for each course (auto increment)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course_name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= course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naam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"Mathematics"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"Science"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"Computer Programming"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62610" y="3560779"/>
            <a:ext cx="87183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enrollments</a:t>
            </a:r>
            <a:r>
              <a:rPr kumimoji="0" lang="en-US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Table</a:t>
            </a:r>
            <a:r>
              <a:rPr kumimoji="0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(Bridge Table for many-to-many): 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546" y="4233163"/>
            <a:ext cx="710501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CREATE TABLE enrollments (</a:t>
            </a:r>
          </a:p>
          <a:p>
            <a:r>
              <a:rPr lang="en-US" dirty="0"/>
              <a:t>  </a:t>
            </a:r>
            <a:r>
              <a:rPr lang="en-US" dirty="0" err="1"/>
              <a:t>enrollment_id</a:t>
            </a:r>
            <a:r>
              <a:rPr lang="en-US" dirty="0"/>
              <a:t> INT PRIMARY KEY AUTO_INCREMENT,</a:t>
            </a:r>
          </a:p>
          <a:p>
            <a:r>
              <a:rPr lang="en-US" dirty="0"/>
              <a:t>  </a:t>
            </a:r>
            <a:r>
              <a:rPr lang="en-US" dirty="0" err="1"/>
              <a:t>student_id</a:t>
            </a:r>
            <a:r>
              <a:rPr lang="en-US" dirty="0"/>
              <a:t> INT,</a:t>
            </a:r>
          </a:p>
          <a:p>
            <a:r>
              <a:rPr lang="en-US" dirty="0"/>
              <a:t>  </a:t>
            </a:r>
            <a:r>
              <a:rPr lang="en-US" dirty="0" err="1"/>
              <a:t>course_id</a:t>
            </a:r>
            <a:r>
              <a:rPr lang="en-US" dirty="0"/>
              <a:t> INT,</a:t>
            </a:r>
          </a:p>
          <a:p>
            <a:r>
              <a:rPr lang="en-US" dirty="0"/>
              <a:t>  </a:t>
            </a:r>
            <a:r>
              <a:rPr lang="en-US" dirty="0" err="1"/>
              <a:t>enrollment_date</a:t>
            </a:r>
            <a:r>
              <a:rPr lang="en-US" dirty="0"/>
              <a:t> DATE,</a:t>
            </a:r>
          </a:p>
          <a:p>
            <a:r>
              <a:rPr lang="en-US" dirty="0"/>
              <a:t>  FOREIGN KEY (</a:t>
            </a:r>
            <a:r>
              <a:rPr lang="en-US" dirty="0" err="1"/>
              <a:t>student_id</a:t>
            </a:r>
            <a:r>
              <a:rPr lang="en-US" dirty="0"/>
              <a:t>) REFERENCES students(id),</a:t>
            </a:r>
          </a:p>
          <a:p>
            <a:r>
              <a:rPr lang="en-US" dirty="0"/>
              <a:t>  FOREIGN KEY (</a:t>
            </a:r>
            <a:r>
              <a:rPr lang="en-US" dirty="0" err="1"/>
              <a:t>course_id</a:t>
            </a:r>
            <a:r>
              <a:rPr lang="en-US" dirty="0"/>
              <a:t>) REFERENCES courses(</a:t>
            </a:r>
            <a:r>
              <a:rPr lang="en-US" dirty="0" err="1"/>
              <a:t>course_id</a:t>
            </a:r>
            <a:r>
              <a:rPr lang="en-US" dirty="0"/>
              <a:t>)</a:t>
            </a:r>
          </a:p>
          <a:p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72698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7498" y="183617"/>
            <a:ext cx="805093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Purpose of this table</a:t>
            </a:r>
            <a:r>
              <a:rPr lang="en-US" b="1" dirty="0" smtClean="0"/>
              <a:t>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Ek</a:t>
            </a:r>
            <a:r>
              <a:rPr lang="en-US" dirty="0"/>
              <a:t> student </a:t>
            </a:r>
            <a:r>
              <a:rPr lang="en-US" b="1" dirty="0"/>
              <a:t>multiple courses</a:t>
            </a:r>
            <a:r>
              <a:rPr lang="en-US" dirty="0"/>
              <a:t> le </a:t>
            </a:r>
            <a:r>
              <a:rPr lang="en-US" dirty="0" err="1"/>
              <a:t>sakta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Ek</a:t>
            </a:r>
            <a:r>
              <a:rPr lang="en-US" dirty="0"/>
              <a:t> course </a:t>
            </a:r>
            <a:r>
              <a:rPr lang="en-US" b="1" dirty="0"/>
              <a:t>multiple students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pass ho </a:t>
            </a:r>
            <a:r>
              <a:rPr lang="en-US" dirty="0" err="1"/>
              <a:t>sakta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Ye table </a:t>
            </a:r>
            <a:r>
              <a:rPr lang="en-US" b="1" dirty="0"/>
              <a:t>many-to-many</a:t>
            </a:r>
            <a:r>
              <a:rPr lang="en-US" dirty="0"/>
              <a:t> relationship </a:t>
            </a:r>
            <a:r>
              <a:rPr lang="en-US" dirty="0" err="1"/>
              <a:t>ko</a:t>
            </a:r>
            <a:r>
              <a:rPr lang="en-US" dirty="0"/>
              <a:t> implement </a:t>
            </a:r>
            <a:r>
              <a:rPr lang="en-US" dirty="0" err="1"/>
              <a:t>karti</a:t>
            </a:r>
            <a:r>
              <a:rPr lang="en-US" dirty="0"/>
              <a:t> </a:t>
            </a:r>
            <a:r>
              <a:rPr lang="en-US" dirty="0" err="1"/>
              <a:t>hai</a:t>
            </a:r>
            <a:endParaRPr 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83779" y="2021093"/>
            <a:ext cx="7141779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enrollment_id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unique ID of enrollment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student_id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kis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student ne course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liya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(foreign key to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course_id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kaunsa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course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liya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(foreign key to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courses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enrollment_date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kab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enroll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hua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3256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120" y="138515"/>
            <a:ext cx="39299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Working with Data – Insert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69216" y="706078"/>
            <a:ext cx="2541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Step 1: Insert Students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3616" y="1211763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INSERT INTO students (name, age, grade, </a:t>
            </a:r>
            <a:r>
              <a:rPr lang="en-US" dirty="0" err="1"/>
              <a:t>admission_date</a:t>
            </a:r>
            <a:r>
              <a:rPr lang="en-US" dirty="0"/>
              <a:t>)</a:t>
            </a:r>
          </a:p>
          <a:p>
            <a:r>
              <a:rPr lang="en-US" dirty="0"/>
              <a:t>VALUES </a:t>
            </a:r>
          </a:p>
          <a:p>
            <a:r>
              <a:rPr lang="en-US" dirty="0"/>
              <a:t>('Raj Kumar', 20, 'A1', '2025-06-10'),</a:t>
            </a:r>
          </a:p>
          <a:p>
            <a:r>
              <a:rPr lang="en-US" dirty="0"/>
              <a:t>('Anita Singh', 19, 'B2', '2025-06-12'),</a:t>
            </a:r>
          </a:p>
          <a:p>
            <a:r>
              <a:rPr lang="en-US" dirty="0"/>
              <a:t>('</a:t>
            </a:r>
            <a:r>
              <a:rPr lang="en-US" dirty="0" err="1"/>
              <a:t>Saurabh</a:t>
            </a:r>
            <a:r>
              <a:rPr lang="en-US" dirty="0"/>
              <a:t> Mehta', 21, 'A2', '2025-06-13');</a:t>
            </a:r>
          </a:p>
        </p:txBody>
      </p:sp>
      <p:sp>
        <p:nvSpPr>
          <p:cNvPr id="5" name="Rectangle 4"/>
          <p:cNvSpPr/>
          <p:nvPr/>
        </p:nvSpPr>
        <p:spPr>
          <a:xfrm>
            <a:off x="147903" y="3165505"/>
            <a:ext cx="24368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Step 2: Insert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739" y="374663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INSERT INTO courses (</a:t>
            </a:r>
            <a:r>
              <a:rPr lang="en-US" dirty="0" err="1"/>
              <a:t>course_name</a:t>
            </a:r>
            <a:r>
              <a:rPr lang="en-US" dirty="0"/>
              <a:t>)</a:t>
            </a:r>
          </a:p>
          <a:p>
            <a:r>
              <a:rPr lang="en-US" dirty="0"/>
              <a:t>VALUES </a:t>
            </a:r>
          </a:p>
          <a:p>
            <a:r>
              <a:rPr lang="en-US" dirty="0"/>
              <a:t>('Mathematics'),</a:t>
            </a:r>
          </a:p>
          <a:p>
            <a:r>
              <a:rPr lang="en-US" dirty="0"/>
              <a:t>('Physics'),</a:t>
            </a:r>
          </a:p>
          <a:p>
            <a:r>
              <a:rPr lang="en-US" dirty="0"/>
              <a:t>('Computer Programming');</a:t>
            </a:r>
          </a:p>
        </p:txBody>
      </p:sp>
    </p:spTree>
    <p:extLst>
      <p:ext uri="{BB962C8B-B14F-4D97-AF65-F5344CB8AC3E}">
        <p14:creationId xmlns:p14="http://schemas.microsoft.com/office/powerpoint/2010/main" val="470521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3933" y="327707"/>
            <a:ext cx="3882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Step 3: Enroll Students into Courses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52086" y="824580"/>
            <a:ext cx="1069954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-- Raj Kumar enrolls in Mathematics (</a:t>
            </a:r>
            <a:r>
              <a:rPr lang="en-US" dirty="0" err="1"/>
              <a:t>student_id</a:t>
            </a:r>
            <a:r>
              <a:rPr lang="en-US" dirty="0"/>
              <a:t> = 1, </a:t>
            </a:r>
            <a:r>
              <a:rPr lang="en-US" dirty="0" err="1"/>
              <a:t>course_id</a:t>
            </a:r>
            <a:r>
              <a:rPr lang="en-US" dirty="0"/>
              <a:t> = 1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/>
              <a:t>INSERT INTO enrollments 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, </a:t>
            </a:r>
            <a:r>
              <a:rPr lang="en-US" dirty="0" err="1"/>
              <a:t>enrollment_date</a:t>
            </a:r>
            <a:r>
              <a:rPr lang="en-US" dirty="0"/>
              <a:t>)</a:t>
            </a:r>
          </a:p>
          <a:p>
            <a:r>
              <a:rPr lang="en-US" dirty="0"/>
              <a:t>VALUES (1, 1, '2025-06-14');</a:t>
            </a:r>
          </a:p>
          <a:p>
            <a:endParaRPr lang="en-US" dirty="0"/>
          </a:p>
          <a:p>
            <a:r>
              <a:rPr lang="en-US" dirty="0"/>
              <a:t>-- Anita Singh enrolls in Physics (</a:t>
            </a:r>
            <a:r>
              <a:rPr lang="en-US" dirty="0" err="1"/>
              <a:t>student_id</a:t>
            </a:r>
            <a:r>
              <a:rPr lang="en-US" dirty="0"/>
              <a:t> = 2, </a:t>
            </a:r>
            <a:r>
              <a:rPr lang="en-US" dirty="0" err="1"/>
              <a:t>course_id</a:t>
            </a:r>
            <a:r>
              <a:rPr lang="en-US" dirty="0"/>
              <a:t> = 2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/>
              <a:t>INSERT INTO enrollments 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, </a:t>
            </a:r>
            <a:r>
              <a:rPr lang="en-US" dirty="0" err="1"/>
              <a:t>enrollment_date</a:t>
            </a:r>
            <a:r>
              <a:rPr lang="en-US" dirty="0"/>
              <a:t>)</a:t>
            </a:r>
          </a:p>
          <a:p>
            <a:r>
              <a:rPr lang="en-US" dirty="0"/>
              <a:t>VALUES (2, 2, '2025-06-14');</a:t>
            </a:r>
          </a:p>
          <a:p>
            <a:endParaRPr lang="en-US" dirty="0"/>
          </a:p>
          <a:p>
            <a:r>
              <a:rPr lang="en-US" dirty="0"/>
              <a:t>-- </a:t>
            </a:r>
            <a:r>
              <a:rPr lang="en-US" dirty="0" err="1"/>
              <a:t>Saurabh</a:t>
            </a:r>
            <a:r>
              <a:rPr lang="en-US" dirty="0"/>
              <a:t> Mehta enrolls in Computer Programming (</a:t>
            </a:r>
            <a:r>
              <a:rPr lang="en-US" dirty="0" err="1"/>
              <a:t>student_id</a:t>
            </a:r>
            <a:r>
              <a:rPr lang="en-US" dirty="0"/>
              <a:t> = 3, </a:t>
            </a:r>
            <a:r>
              <a:rPr lang="en-US" dirty="0" err="1"/>
              <a:t>course_id</a:t>
            </a:r>
            <a:r>
              <a:rPr lang="en-US" dirty="0"/>
              <a:t> = 3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/>
              <a:t>INSERT INTO enrollments 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, </a:t>
            </a:r>
            <a:r>
              <a:rPr lang="en-US" dirty="0" err="1"/>
              <a:t>enrollment_date</a:t>
            </a:r>
            <a:r>
              <a:rPr lang="en-US" dirty="0"/>
              <a:t>)</a:t>
            </a:r>
          </a:p>
          <a:p>
            <a:r>
              <a:rPr lang="en-US" dirty="0"/>
              <a:t>VALUES (3, 3, '2025-06-14');</a:t>
            </a:r>
          </a:p>
          <a:p>
            <a:endParaRPr lang="en-US" dirty="0"/>
          </a:p>
          <a:p>
            <a:r>
              <a:rPr lang="en-US" dirty="0"/>
              <a:t>-- Raj Kumar also enrolls in Computer </a:t>
            </a:r>
            <a:r>
              <a:rPr lang="en-US" dirty="0" smtClean="0"/>
              <a:t>Programming</a:t>
            </a:r>
          </a:p>
          <a:p>
            <a:endParaRPr lang="en-US" dirty="0"/>
          </a:p>
          <a:p>
            <a:r>
              <a:rPr lang="en-US" dirty="0"/>
              <a:t>INSERT INTO enrollments 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, </a:t>
            </a:r>
            <a:r>
              <a:rPr lang="en-US" dirty="0" err="1"/>
              <a:t>enrollment_date</a:t>
            </a:r>
            <a:r>
              <a:rPr lang="en-US" dirty="0"/>
              <a:t>)</a:t>
            </a:r>
          </a:p>
          <a:p>
            <a:r>
              <a:rPr lang="en-US" dirty="0"/>
              <a:t>VALUES (1, 3, '2025-06-15');</a:t>
            </a:r>
          </a:p>
        </p:txBody>
      </p:sp>
    </p:spTree>
    <p:extLst>
      <p:ext uri="{BB962C8B-B14F-4D97-AF65-F5344CB8AC3E}">
        <p14:creationId xmlns:p14="http://schemas.microsoft.com/office/powerpoint/2010/main" val="12958426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81" y="2918264"/>
            <a:ext cx="9512360" cy="367172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78666" y="17801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SELECT </a:t>
            </a:r>
          </a:p>
          <a:p>
            <a:r>
              <a:rPr lang="en-US" dirty="0"/>
              <a:t>  </a:t>
            </a:r>
            <a:r>
              <a:rPr lang="en-US" dirty="0" err="1"/>
              <a:t>e.enrollment_id</a:t>
            </a:r>
            <a:r>
              <a:rPr lang="en-US" dirty="0"/>
              <a:t>,</a:t>
            </a:r>
          </a:p>
          <a:p>
            <a:r>
              <a:rPr lang="en-US" dirty="0"/>
              <a:t>  s.name AS </a:t>
            </a:r>
            <a:r>
              <a:rPr lang="en-US" dirty="0" err="1"/>
              <a:t>student_name</a:t>
            </a:r>
            <a:r>
              <a:rPr lang="en-US" dirty="0"/>
              <a:t>,</a:t>
            </a:r>
          </a:p>
          <a:p>
            <a:r>
              <a:rPr lang="en-US" dirty="0"/>
              <a:t>  </a:t>
            </a:r>
            <a:r>
              <a:rPr lang="en-US" dirty="0" err="1"/>
              <a:t>c.course_name</a:t>
            </a:r>
            <a:r>
              <a:rPr lang="en-US" dirty="0"/>
              <a:t>,</a:t>
            </a:r>
          </a:p>
          <a:p>
            <a:r>
              <a:rPr lang="en-US" dirty="0"/>
              <a:t>  </a:t>
            </a:r>
            <a:r>
              <a:rPr lang="en-US" dirty="0" err="1"/>
              <a:t>e.enrollment_date</a:t>
            </a:r>
            <a:endParaRPr lang="en-US" dirty="0"/>
          </a:p>
          <a:p>
            <a:r>
              <a:rPr lang="en-US" dirty="0"/>
              <a:t>FROM enrollments e</a:t>
            </a:r>
          </a:p>
          <a:p>
            <a:r>
              <a:rPr lang="en-US" dirty="0"/>
              <a:t>JOIN students s ON </a:t>
            </a:r>
            <a:r>
              <a:rPr lang="en-US" dirty="0" err="1"/>
              <a:t>e.student_id</a:t>
            </a:r>
            <a:r>
              <a:rPr lang="en-US" dirty="0"/>
              <a:t> = s.id</a:t>
            </a:r>
          </a:p>
          <a:p>
            <a:r>
              <a:rPr lang="en-US" dirty="0"/>
              <a:t>JOIN courses c ON </a:t>
            </a:r>
            <a:r>
              <a:rPr lang="en-US" dirty="0" err="1"/>
              <a:t>e.course_id</a:t>
            </a:r>
            <a:r>
              <a:rPr lang="en-US" dirty="0"/>
              <a:t> = </a:t>
            </a:r>
            <a:r>
              <a:rPr lang="en-US" dirty="0" err="1"/>
              <a:t>c.course_id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849753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7225" y="-19140"/>
            <a:ext cx="4099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10. Drop or Delete Tables/Databases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49598" y="469589"/>
            <a:ext cx="2454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DROP TABLE students;</a:t>
            </a:r>
          </a:p>
        </p:txBody>
      </p:sp>
      <p:sp>
        <p:nvSpPr>
          <p:cNvPr id="4" name="Rectangle 3"/>
          <p:cNvSpPr/>
          <p:nvPr/>
        </p:nvSpPr>
        <p:spPr>
          <a:xfrm>
            <a:off x="209307" y="879492"/>
            <a:ext cx="1872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Drop a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660" y="1352457"/>
            <a:ext cx="2613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DROP DATABASE school;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60" y="2235325"/>
            <a:ext cx="9951692" cy="462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986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270</TotalTime>
  <Words>2079</Words>
  <Application>Microsoft Office PowerPoint</Application>
  <PresentationFormat>Widescreen</PresentationFormat>
  <Paragraphs>361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Arial Unicode MS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cipl</dc:creator>
  <cp:lastModifiedBy>cipl</cp:lastModifiedBy>
  <cp:revision>16</cp:revision>
  <dcterms:created xsi:type="dcterms:W3CDTF">2025-05-31T11:27:50Z</dcterms:created>
  <dcterms:modified xsi:type="dcterms:W3CDTF">2025-06-15T07:56:05Z</dcterms:modified>
</cp:coreProperties>
</file>